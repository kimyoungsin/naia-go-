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98" r:id="rId5"/>
    <p:sldId id="305" r:id="rId6"/>
    <p:sldId id="325" r:id="rId7"/>
    <p:sldId id="326" r:id="rId8"/>
    <p:sldId id="328" r:id="rId9"/>
    <p:sldId id="329" r:id="rId10"/>
    <p:sldId id="297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8080"/>
    <a:srgbClr val="90FF00"/>
    <a:srgbClr val="9F620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9E2FA4-E991-FF64-A830-CA020DFEEFDC}" v="486" dt="2026-02-23T08:50:32.083"/>
    <p1510:client id="{8BB69DE2-1D17-3AC9-EDA5-9397C452E9FF}" v="310" dt="2026-02-23T14:22:20.1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" d="2"/>
          <a:sy n="1" d="2"/>
        </p:scale>
        <p:origin x="-1254" y="-132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71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39829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6234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96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3469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02725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5682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606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64931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13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3956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66825D-2B69-4989-8861-A6901ABADB6C}" type="datetimeFigureOut">
              <a:rPr lang="ko-KR" altLang="en-US" smtClean="0"/>
              <a:pPr/>
              <a:t>2026-02-23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6B6DB3-44B8-41C4-A846-21F6C6172237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674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1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11" Type="http://schemas.openxmlformats.org/officeDocument/2006/relationships/image" Target="../media/image23.png"/><Relationship Id="rId5" Type="http://schemas.openxmlformats.org/officeDocument/2006/relationships/image" Target="../media/image18.png"/><Relationship Id="rId10" Type="http://schemas.openxmlformats.org/officeDocument/2006/relationships/image" Target="../media/image22.png"/><Relationship Id="rId4" Type="http://schemas.openxmlformats.org/officeDocument/2006/relationships/image" Target="../media/image17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17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e.naver.com/lounge/Trickcal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7B1AB9FE-36F5-4FD1-9850-DB5C5AD482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F489C2E0-4895-4B72-85EA-7EE9FAFFDC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486402"/>
            <a:ext cx="12192000" cy="1371598"/>
          </a:xfrm>
          <a:prstGeom prst="rect">
            <a:avLst/>
          </a:prstGeom>
          <a:ln>
            <a:noFill/>
          </a:ln>
          <a:effectLst>
            <a:outerShdw blurRad="254000" dist="114300" dir="20340000" sx="89000" sy="89000" algn="t" rotWithShape="0">
              <a:srgbClr val="000000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89556" y="5746071"/>
            <a:ext cx="6154108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altLang="ko-KR" sz="2400" b="1" dirty="0" err="1">
                <a:latin typeface="Arial"/>
                <a:ea typeface="Malgun Gothic"/>
                <a:cs typeface="Arial"/>
              </a:rPr>
              <a:t>나이아</a:t>
            </a:r>
            <a:r>
              <a:rPr lang="en-US" altLang="ko-KR" sz="2400" b="1" dirty="0">
                <a:latin typeface="Arial"/>
                <a:ea typeface="Malgun Gothic"/>
                <a:cs typeface="Arial"/>
              </a:rPr>
              <a:t>, </a:t>
            </a:r>
            <a:r>
              <a:rPr lang="en-US" altLang="ko-KR" sz="2400" b="1" dirty="0" err="1">
                <a:latin typeface="Arial"/>
                <a:ea typeface="Malgun Gothic"/>
                <a:cs typeface="Arial"/>
              </a:rPr>
              <a:t>가라</a:t>
            </a:r>
            <a:r>
              <a:rPr lang="en-US" altLang="ko-KR" sz="2400" b="1" dirty="0">
                <a:latin typeface="Arial"/>
                <a:ea typeface="Malgun Gothic"/>
                <a:cs typeface="Arial"/>
              </a:rPr>
              <a:t>! (Naia, Go!) </a:t>
            </a:r>
            <a:r>
              <a:rPr lang="en-US" altLang="ko-KR" sz="2400" b="1" dirty="0" err="1">
                <a:latin typeface="Arial"/>
                <a:ea typeface="Malgun Gothic"/>
                <a:cs typeface="Arial"/>
              </a:rPr>
              <a:t>초기</a:t>
            </a:r>
            <a:r>
              <a:rPr lang="en-US" altLang="ko-KR" sz="2400" b="1" dirty="0">
                <a:latin typeface="Arial"/>
                <a:ea typeface="Malgun Gothic"/>
                <a:cs typeface="Arial"/>
              </a:rPr>
              <a:t> </a:t>
            </a:r>
            <a:r>
              <a:rPr lang="en-US" altLang="ko-KR" sz="2400" b="1" dirty="0" err="1">
                <a:latin typeface="Arial"/>
                <a:ea typeface="Malgun Gothic"/>
                <a:cs typeface="Arial"/>
              </a:rPr>
              <a:t>기획서</a:t>
            </a:r>
            <a:endParaRPr lang="en-US" altLang="ko-KR" sz="2400" i="1" dirty="0">
              <a:latin typeface="Britannic Bold"/>
              <a:ea typeface="Malgun Gothic"/>
              <a:cs typeface="Arial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8072416" y="6010231"/>
            <a:ext cx="4114801" cy="8522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ko-KR" altLang="en-US" sz="1600" i="1" dirty="0">
                <a:ea typeface="맑은 고딕"/>
              </a:rPr>
              <a:t>김영신</a:t>
            </a:r>
            <a:endParaRPr lang="ko-KR" sz="1600" i="1">
              <a:ea typeface="맑은 고딕"/>
            </a:endParaRPr>
          </a:p>
          <a:p>
            <a:pPr algn="r"/>
            <a:r>
              <a:rPr lang="ko-KR" altLang="en-US" sz="1600" i="1" dirty="0">
                <a:ea typeface="맑은 고딕"/>
              </a:rPr>
              <a:t>2025.02.16</a:t>
            </a:r>
          </a:p>
        </p:txBody>
      </p:sp>
      <p:pic>
        <p:nvPicPr>
          <p:cNvPr id="5" name="그림 4" descr="나무, PC 게임, 스크린샷, 전략 비디오 게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7A14E8-13A0-8152-9AEA-39FD907241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4"/>
            <a:ext cx="12192000" cy="548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9210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69F1218-43B2-0A9A-5DEC-F42CE0BF38A3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i="1" dirty="0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0595C72-21D0-37B6-19A8-AE5B807DA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225" y="3334"/>
            <a:ext cx="1085851" cy="646907"/>
          </a:xfrm>
        </p:spPr>
        <p:txBody>
          <a:bodyPr>
            <a:normAutofit/>
          </a:bodyPr>
          <a:lstStyle/>
          <a:p>
            <a:r>
              <a:rPr lang="ko-KR" altLang="en-US" sz="1800" b="1" i="1" dirty="0">
                <a:solidFill>
                  <a:schemeClr val="bg1"/>
                </a:solidFill>
                <a:ea typeface="맑은 고딕"/>
              </a:rPr>
              <a:t>목차</a:t>
            </a:r>
            <a:endParaRPr lang="ko-KR" altLang="en-US" sz="1800" b="1" i="1">
              <a:solidFill>
                <a:schemeClr val="bg1"/>
              </a:solidFill>
              <a:ea typeface="맑은 고딕"/>
            </a:endParaRPr>
          </a:p>
        </p:txBody>
      </p:sp>
      <p:sp>
        <p:nvSpPr>
          <p:cNvPr id="5" name="평행 사변형 4">
            <a:extLst>
              <a:ext uri="{FF2B5EF4-FFF2-40B4-BE49-F238E27FC236}">
                <a16:creationId xmlns:a16="http://schemas.microsoft.com/office/drawing/2014/main" id="{C5C89250-41A8-2439-0A60-2FE6FEECA389}"/>
              </a:ext>
            </a:extLst>
          </p:cNvPr>
          <p:cNvSpPr/>
          <p:nvPr/>
        </p:nvSpPr>
        <p:spPr>
          <a:xfrm>
            <a:off x="518648" y="1281240"/>
            <a:ext cx="3357217" cy="443316"/>
          </a:xfrm>
          <a:prstGeom prst="parallelogram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AutoNum type="arabicPeriod"/>
            </a:pPr>
            <a:r>
              <a:rPr lang="ko-KR" altLang="en-US" sz="1400" b="1" i="1">
                <a:solidFill>
                  <a:schemeClr val="tx1"/>
                </a:solidFill>
                <a:ea typeface="맑은 고딕"/>
              </a:rPr>
              <a:t>'나이아, 가라!' 기획서 개요</a:t>
            </a:r>
            <a:endParaRPr 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B919DF7-20AC-9668-4F6D-B50BFE3C0158}"/>
              </a:ext>
            </a:extLst>
          </p:cNvPr>
          <p:cNvSpPr txBox="1"/>
          <p:nvPr/>
        </p:nvSpPr>
        <p:spPr>
          <a:xfrm>
            <a:off x="1129983" y="1876800"/>
            <a:ext cx="235127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>
              <a:buAutoNum type="arabicPeriod"/>
            </a:pPr>
            <a:r>
              <a:rPr lang="ko-KR" sz="1400">
                <a:latin typeface="Malgun Gothic"/>
                <a:ea typeface="Malgun Gothic"/>
              </a:rPr>
              <a:t>기획 의도 및 게임 컨셉</a:t>
            </a:r>
            <a:endParaRPr lang="ko-KR" sz="1400" i="1"/>
          </a:p>
        </p:txBody>
      </p:sp>
      <p:sp>
        <p:nvSpPr>
          <p:cNvPr id="9" name="평행 사변형 8">
            <a:extLst>
              <a:ext uri="{FF2B5EF4-FFF2-40B4-BE49-F238E27FC236}">
                <a16:creationId xmlns:a16="http://schemas.microsoft.com/office/drawing/2014/main" id="{8CF2CD5D-120D-0799-9FD5-AD7D23B892EC}"/>
              </a:ext>
            </a:extLst>
          </p:cNvPr>
          <p:cNvSpPr/>
          <p:nvPr/>
        </p:nvSpPr>
        <p:spPr>
          <a:xfrm>
            <a:off x="518647" y="2308284"/>
            <a:ext cx="3357217" cy="443316"/>
          </a:xfrm>
          <a:prstGeom prst="parallelogram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 sz="1400" b="1" i="1">
                <a:solidFill>
                  <a:schemeClr val="tx1"/>
                </a:solidFill>
                <a:ea typeface="맑은 고딕"/>
              </a:rPr>
              <a:t>2.   배경 및 스토리</a:t>
            </a:r>
            <a:endParaRPr lang="ko-KR" altLang="en-US" sz="1400" b="1" i="1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0" name="평행 사변형 9">
            <a:extLst>
              <a:ext uri="{FF2B5EF4-FFF2-40B4-BE49-F238E27FC236}">
                <a16:creationId xmlns:a16="http://schemas.microsoft.com/office/drawing/2014/main" id="{CA4BF38A-4E6F-9793-419A-09764EFAD668}"/>
              </a:ext>
            </a:extLst>
          </p:cNvPr>
          <p:cNvSpPr/>
          <p:nvPr/>
        </p:nvSpPr>
        <p:spPr>
          <a:xfrm>
            <a:off x="518647" y="3147588"/>
            <a:ext cx="3357217" cy="443316"/>
          </a:xfrm>
          <a:prstGeom prst="parallelogram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ko-KR" altLang="en-US" sz="1400" b="1" i="1">
                <a:solidFill>
                  <a:schemeClr val="tx1"/>
                </a:solidFill>
                <a:ea typeface="맑은 고딕"/>
              </a:rPr>
              <a:t>3.   게임 특징</a:t>
            </a:r>
            <a:endParaRPr lang="ko-KR" altLang="en-US" sz="1400" b="1" i="1" dirty="0">
              <a:solidFill>
                <a:schemeClr val="tx1"/>
              </a:solidFill>
              <a:ea typeface="맑은 고딕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B8B4935-649C-CCD4-FB9B-B2196410AC14}"/>
              </a:ext>
            </a:extLst>
          </p:cNvPr>
          <p:cNvSpPr txBox="1"/>
          <p:nvPr/>
        </p:nvSpPr>
        <p:spPr>
          <a:xfrm>
            <a:off x="1133927" y="3691608"/>
            <a:ext cx="3028870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>
                <a:ea typeface="맑은 고딕"/>
              </a:rPr>
              <a:t>조작법</a:t>
            </a:r>
            <a:endParaRPr lang="ko-KR" altLang="en-US" sz="1400">
              <a:ea typeface="맑은 고딕" panose="020B0503020000020004" pitchFamily="34" charset="-127"/>
            </a:endParaRPr>
          </a:p>
          <a:p>
            <a:pPr marL="342900" indent="-342900">
              <a:buAutoNum type="arabicPeriod"/>
            </a:pPr>
            <a:r>
              <a:rPr lang="ko-KR" altLang="en-US" sz="1400">
                <a:ea typeface="맑은 고딕"/>
              </a:rPr>
              <a:t>물 분사식 이동과 수분 게이지</a:t>
            </a:r>
          </a:p>
          <a:p>
            <a:pPr marL="342900" indent="-342900">
              <a:buAutoNum type="arabicPeriod"/>
            </a:pPr>
            <a:r>
              <a:rPr lang="ko-KR" altLang="en-US" sz="1400">
                <a:ea typeface="맑은 고딕"/>
              </a:rPr>
              <a:t>스테이지</a:t>
            </a:r>
            <a:endParaRPr lang="ko-KR" altLang="en-US" sz="1400" dirty="0">
              <a:ea typeface="맑은 고딕"/>
            </a:endParaRPr>
          </a:p>
          <a:p>
            <a:pPr marL="342900" indent="-342900">
              <a:buAutoNum type="arabicPeriod"/>
            </a:pPr>
            <a:r>
              <a:rPr lang="ko-KR" altLang="en-US" sz="1400">
                <a:ea typeface="맑은 고딕"/>
              </a:rPr>
              <a:t>방해하는 적</a:t>
            </a:r>
            <a:endParaRPr lang="ko-KR" altLang="en-US" sz="1400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137584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AAE06-2F15-E13E-013C-4C6E3A3F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2329" y="3424341"/>
            <a:ext cx="5706878" cy="130000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'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나이아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, 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가라!'는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''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트릭컬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RE:VIVE'의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팬게임으로 해당 게임의 등장 캐릭터인 '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나이아'를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주인공으로 하는 액션, 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플랫포머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장르의 게임이다.</a:t>
            </a:r>
          </a:p>
          <a:p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게임 제목은 실존하는 폭포인 '나이아가라 </a:t>
            </a:r>
            <a:r>
              <a:rPr lang="ko-KR" altLang="en-US" sz="10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폭포'와</a:t>
            </a:r>
            <a:r>
              <a:rPr lang="ko-KR" altLang="en-US" sz="10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주인공 캐릭터의 이름에서 따와 언어유희를 살리기 위해 지었다.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7DBD88D-EB84-3CA9-5F5D-7A29D9472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558006"/>
              </p:ext>
            </p:extLst>
          </p:nvPr>
        </p:nvGraphicFramePr>
        <p:xfrm>
          <a:off x="6692505" y="1395738"/>
          <a:ext cx="5251570" cy="14833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6428">
                  <a:extLst>
                    <a:ext uri="{9D8B030D-6E8A-4147-A177-3AD203B41FA5}">
                      <a16:colId xmlns:a16="http://schemas.microsoft.com/office/drawing/2014/main" val="1130476978"/>
                    </a:ext>
                  </a:extLst>
                </a:gridCol>
                <a:gridCol w="4195142">
                  <a:extLst>
                    <a:ext uri="{9D8B030D-6E8A-4147-A177-3AD203B41FA5}">
                      <a16:colId xmlns:a16="http://schemas.microsoft.com/office/drawing/2014/main" val="2413921445"/>
                    </a:ext>
                  </a:extLst>
                </a:gridCol>
              </a:tblGrid>
              <a:tr h="37083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</a:rPr>
                        <a:t>제목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나이아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, 가라!(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Naia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b="0" dirty="0" err="1">
                          <a:solidFill>
                            <a:schemeClr val="tx1"/>
                          </a:solidFill>
                        </a:rPr>
                        <a:t>Go</a:t>
                      </a:r>
                      <a:r>
                        <a:rPr lang="ko-KR" altLang="en-US" sz="1200" b="0" dirty="0">
                          <a:solidFill>
                            <a:schemeClr val="tx1"/>
                          </a:solidFill>
                        </a:rPr>
                        <a:t>!)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64310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</a:rPr>
                        <a:t>장르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액션, </a:t>
                      </a:r>
                      <a:r>
                        <a:rPr lang="ko-KR" altLang="en-US" sz="1200" dirty="0" err="1">
                          <a:solidFill>
                            <a:schemeClr val="tx1"/>
                          </a:solidFill>
                        </a:rPr>
                        <a:t>플랫포머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8327756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</a:rPr>
                        <a:t>엔진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유니티 엔진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9184899"/>
                  </a:ext>
                </a:extLst>
              </a:tr>
              <a:tr h="370838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ko-KR" altLang="en-US" sz="1200" b="1" i="0" dirty="0">
                          <a:solidFill>
                            <a:schemeClr val="tx1"/>
                          </a:solidFill>
                        </a:rPr>
                        <a:t>플랫폼</a:t>
                      </a:r>
                      <a:endParaRPr lang="ko-KR" sz="120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ko-KR" altLang="en-US" sz="1200" dirty="0">
                          <a:solidFill>
                            <a:schemeClr val="tx1"/>
                          </a:solidFill>
                        </a:rPr>
                        <a:t>PC, 모바일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0775719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816AC76B-7401-8714-3C51-49A396FF0B9C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eriod"/>
            </a:pPr>
            <a:r>
              <a:rPr lang="ko-KR" altLang="en-US" b="1" i="1" err="1">
                <a:solidFill>
                  <a:schemeClr val="bg1"/>
                </a:solidFill>
                <a:ea typeface="맑은 고딕"/>
              </a:rPr>
              <a:t>나이아</a:t>
            </a:r>
            <a:r>
              <a:rPr lang="ko-KR" altLang="en-US" b="1" i="1" dirty="0">
                <a:solidFill>
                  <a:schemeClr val="bg1"/>
                </a:solidFill>
                <a:ea typeface="맑은 고딕"/>
              </a:rPr>
              <a:t>, 가라! 기획서 개요</a:t>
            </a:r>
          </a:p>
        </p:txBody>
      </p:sp>
      <p:pic>
        <p:nvPicPr>
          <p:cNvPr id="4" name="그림 3" descr="텍스트, 구름, 하늘, 자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CE31DFB-B7BF-88CC-45EF-5A78FE922F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870" y="1391031"/>
            <a:ext cx="6007652" cy="3336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4951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AAE06-2F15-E13E-013C-4C6E3A3F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3" y="4087054"/>
            <a:ext cx="5865258" cy="42420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900" dirty="0">
                <a:solidFill>
                  <a:srgbClr val="000000"/>
                </a:solidFill>
                <a:ea typeface="+mn-lt"/>
                <a:cs typeface="Arial"/>
              </a:rPr>
              <a:t>'</a:t>
            </a:r>
            <a:r>
              <a:rPr lang="ko-KR" altLang="en-US" sz="900" err="1">
                <a:solidFill>
                  <a:srgbClr val="000000"/>
                </a:solidFill>
                <a:ea typeface="+mn-lt"/>
                <a:cs typeface="Arial"/>
              </a:rPr>
              <a:t>에피드</a:t>
            </a:r>
            <a:r>
              <a:rPr lang="ko-KR" altLang="en-US" sz="9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900" err="1">
                <a:solidFill>
                  <a:srgbClr val="000000"/>
                </a:solidFill>
                <a:ea typeface="+mn-lt"/>
                <a:cs typeface="Arial"/>
              </a:rPr>
              <a:t>게임즈'의</a:t>
            </a:r>
            <a:r>
              <a:rPr lang="ko-KR" altLang="en-US" sz="900" dirty="0">
                <a:solidFill>
                  <a:srgbClr val="000000"/>
                </a:solidFill>
                <a:ea typeface="+mn-lt"/>
                <a:cs typeface="Arial"/>
              </a:rPr>
              <a:t> 모바일 수집형 게임 '</a:t>
            </a:r>
            <a:r>
              <a:rPr lang="ko-KR" altLang="en-US" sz="900" err="1">
                <a:solidFill>
                  <a:srgbClr val="000000"/>
                </a:solidFill>
                <a:ea typeface="+mn-lt"/>
                <a:cs typeface="Arial"/>
              </a:rPr>
              <a:t>트릭컬</a:t>
            </a:r>
            <a:r>
              <a:rPr lang="ko-KR" altLang="en-US" sz="9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900" err="1">
                <a:solidFill>
                  <a:srgbClr val="000000"/>
                </a:solidFill>
                <a:ea typeface="+mn-lt"/>
                <a:cs typeface="Arial"/>
              </a:rPr>
              <a:t>리바이브</a:t>
            </a:r>
            <a:r>
              <a:rPr lang="ko-KR" altLang="en-US" sz="900" dirty="0">
                <a:solidFill>
                  <a:srgbClr val="000000"/>
                </a:solidFill>
                <a:ea typeface="+mn-lt"/>
                <a:cs typeface="Arial"/>
              </a:rPr>
              <a:t>'(출처: https://game.naver.com/lounge/Trickcal).</a:t>
            </a:r>
            <a:endParaRPr lang="ko-KR" sz="900">
              <a:solidFill>
                <a:srgbClr val="000000"/>
              </a:solidFill>
              <a:ea typeface="+mn-lt"/>
              <a:cs typeface="Arial"/>
            </a:endParaRPr>
          </a:p>
          <a:p>
            <a:endParaRPr lang="ko-KR" altLang="en-US" sz="900" dirty="0">
              <a:solidFill>
                <a:srgbClr val="000000"/>
              </a:solidFill>
              <a:ea typeface="+mn-lt"/>
              <a:cs typeface="Arial"/>
            </a:endParaRPr>
          </a:p>
          <a:p>
            <a:endParaRPr lang="ko-KR" altLang="en-US" sz="9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50BEDA2-DAB1-4A00-78AC-B74D1AE33891}"/>
              </a:ext>
            </a:extLst>
          </p:cNvPr>
          <p:cNvSpPr txBox="1">
            <a:spLocks/>
          </p:cNvSpPr>
          <p:nvPr/>
        </p:nvSpPr>
        <p:spPr>
          <a:xfrm>
            <a:off x="6097723" y="4087143"/>
            <a:ext cx="5861926" cy="4321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간단하지만 장르에 어려운 조작법을 도입하여 플레이어에게 도전심을 불러일으키는 게임으로 유명한 '</a:t>
            </a:r>
            <a:r>
              <a:rPr lang="ko-KR" altLang="en-US" sz="9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Getting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9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Over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90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It</a:t>
            </a:r>
            <a:r>
              <a:rPr lang="ko-KR" altLang="en-US" sz="9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'​</a:t>
            </a:r>
            <a:r>
              <a:rPr lang="en-US" altLang="ko-KR" sz="9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(</a:t>
            </a:r>
            <a:r>
              <a:rPr lang="en-US" altLang="ko-KR" sz="900" err="1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출처</a:t>
            </a:r>
            <a:r>
              <a:rPr lang="en-US" altLang="ko-KR" sz="900" dirty="0">
                <a:solidFill>
                  <a:srgbClr val="000000"/>
                </a:solidFill>
                <a:latin typeface="Malgun Gothic"/>
                <a:ea typeface="Malgun Gothic"/>
                <a:cs typeface="Arial"/>
              </a:rPr>
              <a:t>: Steam).</a:t>
            </a:r>
          </a:p>
          <a:p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CC5A42C6-4F68-5ACA-581D-50D2ED575961}"/>
              </a:ext>
            </a:extLst>
          </p:cNvPr>
          <p:cNvSpPr txBox="1">
            <a:spLocks/>
          </p:cNvSpPr>
          <p:nvPr/>
        </p:nvSpPr>
        <p:spPr>
          <a:xfrm>
            <a:off x="234472" y="4967632"/>
            <a:ext cx="11507017" cy="153936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 dirty="0">
                <a:ea typeface="맑은 고딕"/>
                <a:cs typeface="Arial"/>
              </a:rPr>
              <a:t>기존에 구상했던 게임의 기획을 수정하여 요즘 한국 커뮤니티 및 모바일 </a:t>
            </a:r>
            <a:r>
              <a:rPr lang="ko-KR" altLang="en-US" sz="1200" dirty="0" err="1">
                <a:ea typeface="맑은 고딕"/>
                <a:cs typeface="Arial"/>
              </a:rPr>
              <a:t>서브컬쳐</a:t>
            </a:r>
            <a:r>
              <a:rPr lang="ko-KR" altLang="en-US" sz="1200" dirty="0">
                <a:ea typeface="맑은 고딕"/>
                <a:cs typeface="Arial"/>
              </a:rPr>
              <a:t> 게임 계열에서 떠오르고 있는 게임 '</a:t>
            </a:r>
            <a:r>
              <a:rPr lang="ko-KR" altLang="en-US" sz="1200" dirty="0" err="1">
                <a:ea typeface="맑은 고딕"/>
                <a:cs typeface="Arial"/>
              </a:rPr>
              <a:t>트릭컬</a:t>
            </a:r>
            <a:r>
              <a:rPr lang="ko-KR" altLang="en-US" sz="1200" dirty="0">
                <a:ea typeface="맑은 고딕"/>
                <a:cs typeface="Arial"/>
              </a:rPr>
              <a:t> </a:t>
            </a:r>
            <a:r>
              <a:rPr lang="ko-KR" altLang="en-US" sz="1200" dirty="0" err="1">
                <a:ea typeface="맑은 고딕"/>
                <a:cs typeface="Arial"/>
              </a:rPr>
              <a:t>RE:VIVE'의</a:t>
            </a:r>
            <a:r>
              <a:rPr lang="ko-KR" altLang="en-US" sz="1200" dirty="0">
                <a:ea typeface="맑은 고딕"/>
                <a:cs typeface="Arial"/>
              </a:rPr>
              <a:t> 디자인을 적용시켜 팬 게임으로 만들기로 결정했다. </a:t>
            </a:r>
          </a:p>
          <a:p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게임의 전체적인 모티브는 '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Getting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Over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It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with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Bennett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ea typeface="+mn-lt"/>
                <a:cs typeface="Arial"/>
              </a:rPr>
              <a:t>Foddy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'(항아리 게임), '</a:t>
            </a:r>
            <a:r>
              <a:rPr lang="ko-KR" altLang="en-US" sz="12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Jump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 </a:t>
            </a:r>
            <a:r>
              <a:rPr lang="ko-KR" altLang="en-US" sz="1200" dirty="0" err="1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King</a:t>
            </a:r>
            <a:r>
              <a:rPr lang="ko-KR" altLang="en-US" sz="1200" dirty="0">
                <a:solidFill>
                  <a:srgbClr val="000000"/>
                </a:solidFill>
                <a:latin typeface="맑은 고딕"/>
                <a:ea typeface="맑은 고딕"/>
                <a:cs typeface="Arial"/>
              </a:rPr>
              <a:t>' 등의 플레이어를 자극하지만 도전심을 불러일으키는 게임을 모티브로 하였다.</a:t>
            </a:r>
          </a:p>
          <a:p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  <a:p>
            <a:endParaRPr lang="ko-KR" altLang="en-US" sz="1200" dirty="0">
              <a:solidFill>
                <a:srgbClr val="000000"/>
              </a:solidFill>
              <a:latin typeface="맑은 고딕"/>
              <a:ea typeface="맑은 고딕"/>
              <a:cs typeface="Arial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AA5BF39-5844-F631-C48C-188111921113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 dirty="0">
                <a:solidFill>
                  <a:schemeClr val="bg1"/>
                </a:solidFill>
                <a:ea typeface="맑은 고딕"/>
              </a:rPr>
              <a:t>1-1. 기획 의도 및 게임 컨셉</a:t>
            </a:r>
          </a:p>
        </p:txBody>
      </p:sp>
      <p:pic>
        <p:nvPicPr>
          <p:cNvPr id="4" name="그림 3" descr="스크린샷, 만화 영화, 야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0F18BC04-8E6F-BFCA-39E7-79CE5C432D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859" y="980455"/>
            <a:ext cx="5883413" cy="3108047"/>
          </a:xfrm>
          <a:prstGeom prst="rect">
            <a:avLst/>
          </a:prstGeom>
        </p:spPr>
      </p:pic>
      <p:pic>
        <p:nvPicPr>
          <p:cNvPr id="2" name="그림 1" descr="아니메, 만화 영화, 소설, 일러스트레이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B1AE06F-429C-0E91-91A8-4F759D26B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809" y="985630"/>
            <a:ext cx="5380383" cy="309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820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AAE06-2F15-E13E-013C-4C6E3A3F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3" y="4828919"/>
            <a:ext cx="11715714" cy="161290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200" dirty="0">
                <a:latin typeface="맑은 고딕"/>
                <a:ea typeface="맑은 고딕"/>
                <a:cs typeface="Arial"/>
              </a:rPr>
              <a:t>물의 고위 정령 '</a:t>
            </a:r>
            <a:r>
              <a:rPr lang="ko-KR" altLang="en-US" sz="1200" err="1">
                <a:latin typeface="맑은 고딕"/>
                <a:ea typeface="맑은 고딕"/>
                <a:cs typeface="Arial"/>
              </a:rPr>
              <a:t>나이아'는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 장난을 치다가 그녀의 요정 친구 '</a:t>
            </a:r>
            <a:r>
              <a:rPr lang="ko-KR" altLang="en-US" sz="1200" err="1">
                <a:latin typeface="맑은 고딕"/>
                <a:ea typeface="맑은 고딕"/>
                <a:cs typeface="Arial"/>
              </a:rPr>
              <a:t>샤샤'가</a:t>
            </a:r>
            <a:r>
              <a:rPr lang="ko-KR" altLang="en-US" sz="1200">
                <a:latin typeface="맑은 고딕"/>
                <a:ea typeface="맑은 고딕"/>
                <a:cs typeface="Arial"/>
              </a:rPr>
              <a:t> 가지고 있는 텀블러에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 머리가 끼게 된다. 모종의 이유로 텀블러 밖으로 나갈 수도, 안으로 들어 갈 </a:t>
            </a:r>
            <a:r>
              <a:rPr lang="ko-KR" altLang="en-US" sz="1200">
                <a:latin typeface="맑은 고딕"/>
                <a:ea typeface="맑은 고딕"/>
                <a:cs typeface="Arial"/>
              </a:rPr>
              <a:t>수도 없게 되자 입으로 물을 뿜는 능력을 이용하여 자신의 영역인 '정령산'의 호수로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 돌아가려고 한다.</a:t>
            </a:r>
            <a:endParaRPr lang="ko-KR" altLang="en-US" sz="1200" dirty="0" err="1">
              <a:latin typeface="맑은 고딕"/>
              <a:ea typeface="맑은 고딕"/>
              <a:cs typeface="Arial"/>
            </a:endParaRPr>
          </a:p>
          <a:p>
            <a:r>
              <a:rPr lang="ko-KR" altLang="en-US" sz="1200" dirty="0">
                <a:latin typeface="맑은 고딕"/>
                <a:ea typeface="맑은 고딕"/>
                <a:cs typeface="Arial"/>
              </a:rPr>
              <a:t>게임의 배경 및 스토리는 원본 게임인 '</a:t>
            </a:r>
            <a:r>
              <a:rPr lang="ko-KR" altLang="en-US" sz="1200" err="1">
                <a:latin typeface="맑은 고딕"/>
                <a:ea typeface="맑은 고딕"/>
                <a:cs typeface="Arial"/>
              </a:rPr>
              <a:t>트릭컬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: </a:t>
            </a:r>
            <a:r>
              <a:rPr lang="ko-KR" altLang="en-US" sz="1200" err="1">
                <a:latin typeface="맑은 고딕"/>
                <a:ea typeface="맑은 고딕"/>
                <a:cs typeface="Arial"/>
              </a:rPr>
              <a:t>RIVIVE'의</a:t>
            </a:r>
            <a:r>
              <a:rPr lang="ko-KR" altLang="en-US" sz="1200">
                <a:latin typeface="맑은 고딕"/>
                <a:ea typeface="맑은 고딕"/>
                <a:cs typeface="Arial"/>
              </a:rPr>
              <a:t> 게임 내 '테마극장' 스토리 중 하나인 '불 붙은 불행 속 </a:t>
            </a:r>
            <a:r>
              <a:rPr lang="ko-KR" altLang="en-US" sz="1200" err="1">
                <a:latin typeface="맑은 고딕"/>
                <a:ea typeface="맑은 고딕"/>
                <a:cs typeface="Arial"/>
              </a:rPr>
              <a:t>쓰나미'에서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 모티브를 얻었다.</a:t>
            </a:r>
          </a:p>
          <a:p>
            <a:endParaRPr lang="ko-KR" altLang="en-US" sz="1200" dirty="0">
              <a:latin typeface="Malgun Gothic"/>
              <a:ea typeface="Malgun Gothic"/>
              <a:cs typeface="Arial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74B1E154-5F0E-C7EF-17F9-59B3C9347945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 dirty="0">
                <a:solidFill>
                  <a:schemeClr val="bg1"/>
                </a:solidFill>
                <a:ea typeface="맑은 고딕"/>
              </a:rPr>
              <a:t>2. 배경 및 스토리</a:t>
            </a:r>
            <a:endParaRPr lang="ko-KR" b="1" dirty="0">
              <a:solidFill>
                <a:schemeClr val="bg1"/>
              </a:solidFill>
            </a:endParaRPr>
          </a:p>
        </p:txBody>
      </p:sp>
      <p:pic>
        <p:nvPicPr>
          <p:cNvPr id="5" name="그림 4" descr="아니메, 만화 영화, 애니메이션, 소설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C8228F48-4BA6-3F13-6DA7-02FE3E4164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956" y="1025350"/>
            <a:ext cx="5864088" cy="3139734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A3A63E94-621C-8994-6A21-386A533287D6}"/>
              </a:ext>
            </a:extLst>
          </p:cNvPr>
          <p:cNvSpPr txBox="1"/>
          <p:nvPr/>
        </p:nvSpPr>
        <p:spPr>
          <a:xfrm>
            <a:off x="6082747" y="4161183"/>
            <a:ext cx="5868504" cy="2308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altLang="ko-KR" sz="900" b="1" i="1" dirty="0" err="1">
                <a:ea typeface="맑은 고딕"/>
              </a:rPr>
              <a:t>출처</a:t>
            </a:r>
            <a:r>
              <a:rPr lang="en-US" altLang="ko-KR" sz="900" b="1" i="1" dirty="0">
                <a:ea typeface="맑은 고딕"/>
              </a:rPr>
              <a:t>: https://game.naver.com/lounge/Trickcal/board/detail/5602643</a:t>
            </a:r>
          </a:p>
        </p:txBody>
      </p:sp>
      <p:pic>
        <p:nvPicPr>
          <p:cNvPr id="18" name="그림 17" descr="클립아트, 일러스트레이션, 그림, 만화 영화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5B046869-265E-E929-4410-342F5A6CF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329" y="1393548"/>
            <a:ext cx="1706910" cy="2160382"/>
          </a:xfrm>
          <a:prstGeom prst="rect">
            <a:avLst/>
          </a:prstGeom>
        </p:spPr>
      </p:pic>
      <p:pic>
        <p:nvPicPr>
          <p:cNvPr id="19" name="그림 18" descr="크리스마스 트리, 예술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5A4344B-842B-D21E-E129-8DDF68F204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2789" y="1969190"/>
            <a:ext cx="845380" cy="1241013"/>
          </a:xfrm>
          <a:prstGeom prst="rect">
            <a:avLst/>
          </a:prstGeom>
        </p:spPr>
      </p:pic>
      <p:sp>
        <p:nvSpPr>
          <p:cNvPr id="20" name="더하기 기호 19">
            <a:extLst>
              <a:ext uri="{FF2B5EF4-FFF2-40B4-BE49-F238E27FC236}">
                <a16:creationId xmlns:a16="http://schemas.microsoft.com/office/drawing/2014/main" id="{FA84277F-5D83-42A0-3B13-DDE86E6DBCB0}"/>
              </a:ext>
            </a:extLst>
          </p:cNvPr>
          <p:cNvSpPr/>
          <p:nvPr/>
        </p:nvSpPr>
        <p:spPr>
          <a:xfrm>
            <a:off x="1804505" y="2260047"/>
            <a:ext cx="588617" cy="666473"/>
          </a:xfrm>
          <a:prstGeom prst="mathPlus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1" name="그림 20" descr="클립아트, 만화 영화, 그림, 일러스트레이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3C2446D-A706-F5E5-ED21-5163DF5515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6760" y="1557475"/>
            <a:ext cx="1706219" cy="2075486"/>
          </a:xfrm>
          <a:prstGeom prst="rect">
            <a:avLst/>
          </a:prstGeom>
        </p:spPr>
      </p:pic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93A092E6-DE8D-2D0F-0BB8-9ACA8D954053}"/>
              </a:ext>
            </a:extLst>
          </p:cNvPr>
          <p:cNvSpPr/>
          <p:nvPr/>
        </p:nvSpPr>
        <p:spPr>
          <a:xfrm>
            <a:off x="3429551" y="2460486"/>
            <a:ext cx="647699" cy="317500"/>
          </a:xfrm>
          <a:prstGeom prst="right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1849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9AAAE06-2F15-E13E-013C-4C6E3A3F0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3" y="4878926"/>
            <a:ext cx="11703808" cy="156289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200">
                <a:ea typeface="맑은 고딕"/>
                <a:cs typeface="Arial"/>
              </a:rPr>
              <a:t>WASD 키 / 조이스틱(모바일): 방향을 설정하여 물을 분사한다. 분사한 방향의 반대 방향으로 캐릭터가 이동한다. 이동할 때마다 수분 게이지를 조금씩 소모한다.</a:t>
            </a:r>
          </a:p>
          <a:p>
            <a:r>
              <a:rPr lang="ko-KR" altLang="en-US" sz="1200" dirty="0">
                <a:ea typeface="맑은 고딕"/>
                <a:cs typeface="Arial"/>
              </a:rPr>
              <a:t>스페이스바 / 회전 버튼(모바일): </a:t>
            </a:r>
            <a:r>
              <a:rPr lang="ko-KR" altLang="en-US" sz="1200" dirty="0">
                <a:solidFill>
                  <a:srgbClr val="000000"/>
                </a:solidFill>
                <a:ea typeface="+mn-lt"/>
                <a:cs typeface="Arial"/>
              </a:rPr>
              <a:t>물을 짧고 강하게 뿜어내어 텀블러를 한 바퀴 회전시킨다. 수분 게이지를 10% 소모하며, 약 0.5초 동안 무적 상태가 된다. 적의 투사체 공격이 날아올 때 주로 사용한다.</a:t>
            </a:r>
            <a:endParaRPr lang="ko-KR" altLang="en-US" sz="1200" dirty="0">
              <a:solidFill>
                <a:srgbClr val="000000"/>
              </a:solidFill>
              <a:ea typeface="맑은 고딕"/>
              <a:cs typeface="Arial"/>
            </a:endParaRPr>
          </a:p>
          <a:p>
            <a:endParaRPr lang="ko-KR" altLang="en-US" sz="1200" dirty="0">
              <a:ea typeface="맑은 고딕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EEF2FB2-8138-09EA-EEE7-C98D905720BC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 dirty="0">
                <a:solidFill>
                  <a:schemeClr val="bg1"/>
                </a:solidFill>
                <a:ea typeface="맑은 고딕"/>
              </a:rPr>
              <a:t>3-1. 게임 특징: 조작법</a:t>
            </a:r>
            <a:endParaRPr lang="ko-KR" b="1" i="1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pic>
        <p:nvPicPr>
          <p:cNvPr id="4" name="그림 3" descr="만화 영화, 그린, 식물, 애니메이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031D8534-20E1-3279-9518-4FD0FD3C74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1303" y="887136"/>
            <a:ext cx="3903345" cy="3648075"/>
          </a:xfrm>
          <a:prstGeom prst="rect">
            <a:avLst/>
          </a:prstGeom>
        </p:spPr>
      </p:pic>
      <p:pic>
        <p:nvPicPr>
          <p:cNvPr id="5" name="그림 4" descr="나비, 식물, 무척추 동물, 야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65281B5-2D95-C41B-3A72-7A2EC7FA3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9423" y="887095"/>
            <a:ext cx="3865789" cy="3654878"/>
          </a:xfrm>
          <a:prstGeom prst="rect">
            <a:avLst/>
          </a:prstGeom>
        </p:spPr>
      </p:pic>
      <p:pic>
        <p:nvPicPr>
          <p:cNvPr id="6" name="그림 5" descr="만화 영화, 그래픽 디자인, 그래픽, 스크린샷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811433F-AAA5-2569-4251-BC25152258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5494" y="891416"/>
            <a:ext cx="3789708" cy="3286125"/>
          </a:xfrm>
          <a:prstGeom prst="rect">
            <a:avLst/>
          </a:prstGeom>
        </p:spPr>
      </p:pic>
      <p:pic>
        <p:nvPicPr>
          <p:cNvPr id="2" name="그림 1" descr="원, 스크린샷, 다채로움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A3AABCD-B750-2BED-2751-C757C4A5A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flipH="1">
            <a:off x="220869" y="3473173"/>
            <a:ext cx="706782" cy="717828"/>
          </a:xfrm>
          <a:prstGeom prst="rect">
            <a:avLst/>
          </a:prstGeom>
        </p:spPr>
      </p:pic>
      <p:pic>
        <p:nvPicPr>
          <p:cNvPr id="7" name="그림 6" descr="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4C5C97D-29E8-1E0A-10D1-2CEE81AE8FD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718" y="3542195"/>
            <a:ext cx="651566" cy="585305"/>
          </a:xfrm>
          <a:prstGeom prst="rect">
            <a:avLst/>
          </a:prstGeom>
        </p:spPr>
      </p:pic>
      <p:pic>
        <p:nvPicPr>
          <p:cNvPr id="8" name="그림 7" descr="원, 그래픽, 로고, 상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319A33-65C8-6CD2-3116-B2F786B8C6E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9545" y="3467652"/>
            <a:ext cx="706783" cy="706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121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4ABA24-75BA-F5E4-7CE2-25DCFE0BCD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096258-F8A2-662A-C551-4DD3BD316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3" y="4771770"/>
            <a:ext cx="11715714" cy="16700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200" dirty="0">
                <a:ea typeface="맑은 고딕"/>
                <a:cs typeface="Arial"/>
              </a:rPr>
              <a:t>이동하거나 텀블러 회전을 사용할 때 마다 수분 게이지가 줄어든다. ​수분 게이지가 줄어들수록 '</a:t>
            </a:r>
            <a:r>
              <a:rPr lang="ko-KR" altLang="en-US" sz="1200" dirty="0" err="1">
                <a:ea typeface="맑은 고딕"/>
                <a:cs typeface="Arial"/>
              </a:rPr>
              <a:t>수압'이</a:t>
            </a:r>
            <a:r>
              <a:rPr lang="ko-KR" altLang="en-US" sz="1200" dirty="0">
                <a:ea typeface="맑은 고딕"/>
                <a:cs typeface="Arial"/>
              </a:rPr>
              <a:t> 증가하며 수압이 높아질수록 이동속도가 빨라진다.</a:t>
            </a:r>
          </a:p>
          <a:p>
            <a:r>
              <a:rPr lang="ko-KR" altLang="en-US" sz="1200" dirty="0">
                <a:ea typeface="맑은 고딕"/>
                <a:cs typeface="Arial"/>
              </a:rPr>
              <a:t>수분 게이지는 일정 시간동안 물을 분사하지 않으면(이동 키를 누르지 않은 상태) 조금씩 회복된다. 회복 도중에 물을 분사하면 회복이 멈추며 분사 도중에는 수분 게이지가 회복되지 않는다. </a:t>
            </a:r>
            <a:r>
              <a:rPr lang="ko-KR" altLang="en-US" sz="1200" dirty="0">
                <a:latin typeface="맑은 고딕"/>
                <a:ea typeface="맑은 고딕"/>
                <a:cs typeface="Arial"/>
              </a:rPr>
              <a:t>또한 </a:t>
            </a:r>
            <a:r>
              <a:rPr lang="ko-KR" altLang="en-US" sz="1200" dirty="0" err="1">
                <a:latin typeface="Malgun Gothic"/>
                <a:ea typeface="Malgun Gothic"/>
                <a:cs typeface="Arial"/>
              </a:rPr>
              <a:t>맵에</a:t>
            </a:r>
            <a:r>
              <a:rPr lang="ko-KR" sz="1200" dirty="0">
                <a:latin typeface="Malgun Gothic"/>
                <a:ea typeface="Malgun Gothic"/>
                <a:cs typeface="Arial"/>
              </a:rPr>
              <a:t> 배치된 수분 회복 아이템 등으로도 수분 </a:t>
            </a:r>
            <a:r>
              <a:rPr lang="ko-KR" altLang="en-US" sz="1200" dirty="0">
                <a:latin typeface="Malgun Gothic"/>
                <a:ea typeface="Malgun Gothic"/>
                <a:cs typeface="Arial"/>
              </a:rPr>
              <a:t>게이지의 회복이</a:t>
            </a:r>
            <a:r>
              <a:rPr lang="ko-KR" sz="1200" dirty="0">
                <a:latin typeface="Malgun Gothic"/>
                <a:ea typeface="Malgun Gothic"/>
                <a:cs typeface="Arial"/>
              </a:rPr>
              <a:t> 가능하다.</a:t>
            </a:r>
          </a:p>
          <a:p>
            <a:r>
              <a:rPr lang="ko-KR" altLang="en-US" sz="1200" dirty="0">
                <a:ea typeface="맑은 고딕"/>
                <a:cs typeface="Arial"/>
              </a:rPr>
              <a:t>수압은 수분 게이지가 회복되는 동안 점점 감소한다. 수압이 감소하면 이동속도도 줄어든다. 수분이 완전히 떨어지게 되면 잠깐 동안 기절하게 되어 어떤 행동도 할 수 없다. 기절은 1.5초가 지나면 풀리며 풀리는 동시에 수분 게이지의 회복이 진행된다. 수압 또한 수압 증가 아이템으로 증가시킬 수 있다.</a:t>
            </a:r>
          </a:p>
          <a:p>
            <a:r>
              <a:rPr lang="ko-KR" altLang="en-US" sz="1200" dirty="0">
                <a:ea typeface="맑은 고딕"/>
                <a:cs typeface="Arial"/>
              </a:rPr>
              <a:t>수분과 수압을 적절히 조절하면서 </a:t>
            </a:r>
            <a:r>
              <a:rPr lang="ko-KR" sz="1200" dirty="0">
                <a:latin typeface="Malgun Gothic"/>
                <a:ea typeface="Malgun Gothic"/>
                <a:cs typeface="Arial"/>
              </a:rPr>
              <a:t>수분이 완전히 떨어지지 않게 하면서도 </a:t>
            </a:r>
            <a:r>
              <a:rPr lang="ko-KR" altLang="en-US" sz="1200" dirty="0">
                <a:ea typeface="맑은 고딕"/>
                <a:cs typeface="Arial"/>
              </a:rPr>
              <a:t>빠르게 목적지점까지 도달하는 것이 핵심이다.</a:t>
            </a:r>
            <a:endParaRPr lang="ko-KR">
              <a:ea typeface="맑은 고딕"/>
            </a:endParaRPr>
          </a:p>
          <a:p>
            <a:endParaRPr lang="ko-KR" altLang="en-US" sz="1200" dirty="0">
              <a:ea typeface="맑은 고딕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BEC0FA7-2069-0DEF-57CE-5D96328CBE2D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 dirty="0">
                <a:solidFill>
                  <a:schemeClr val="bg1"/>
                </a:solidFill>
                <a:ea typeface="맑은 고딕"/>
              </a:rPr>
              <a:t>3-2. 게임 특징: 물 분사식 이동 및 수분 게이지</a:t>
            </a:r>
          </a:p>
        </p:txBody>
      </p:sp>
      <p:pic>
        <p:nvPicPr>
          <p:cNvPr id="5" name="그림 4" descr="예술, 상징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9086664-16B9-C88E-955A-B995BEDC39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340" y="1711173"/>
            <a:ext cx="1162050" cy="1533525"/>
          </a:xfrm>
          <a:prstGeom prst="rect">
            <a:avLst/>
          </a:prstGeom>
        </p:spPr>
      </p:pic>
      <p:pic>
        <p:nvPicPr>
          <p:cNvPr id="6" name="그림 5" descr="상징, 예술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12AB2CCA-939F-8DF9-12C7-326C0B3E21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6580" y="1712498"/>
            <a:ext cx="1162050" cy="1533525"/>
          </a:xfrm>
          <a:prstGeom prst="rect">
            <a:avLst/>
          </a:prstGeom>
        </p:spPr>
      </p:pic>
      <p:sp>
        <p:nvSpPr>
          <p:cNvPr id="7" name="화살표: 아래쪽 6">
            <a:extLst>
              <a:ext uri="{FF2B5EF4-FFF2-40B4-BE49-F238E27FC236}">
                <a16:creationId xmlns:a16="http://schemas.microsoft.com/office/drawing/2014/main" id="{9437F749-2195-B18A-583F-AB5ED21528B2}"/>
              </a:ext>
            </a:extLst>
          </p:cNvPr>
          <p:cNvSpPr/>
          <p:nvPr/>
        </p:nvSpPr>
        <p:spPr>
          <a:xfrm>
            <a:off x="2703245" y="2251213"/>
            <a:ext cx="369404" cy="66150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E629797A-C2A7-2E59-9C9C-29ABB4A13C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3608" y="1828165"/>
            <a:ext cx="351790" cy="151511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1C264420-8E89-AF6B-543A-0507742C8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5542" y="1814582"/>
            <a:ext cx="351790" cy="1515110"/>
          </a:xfrm>
          <a:prstGeom prst="rect">
            <a:avLst/>
          </a:prstGeom>
        </p:spPr>
      </p:pic>
      <p:sp>
        <p:nvSpPr>
          <p:cNvPr id="8" name="화살표: 아래쪽 7">
            <a:extLst>
              <a:ext uri="{FF2B5EF4-FFF2-40B4-BE49-F238E27FC236}">
                <a16:creationId xmlns:a16="http://schemas.microsoft.com/office/drawing/2014/main" id="{B6DF5CE4-2D37-04AE-B370-67BB3CD1CD0E}"/>
              </a:ext>
            </a:extLst>
          </p:cNvPr>
          <p:cNvSpPr/>
          <p:nvPr/>
        </p:nvSpPr>
        <p:spPr>
          <a:xfrm rot="10800000">
            <a:off x="4509169" y="2240170"/>
            <a:ext cx="369404" cy="661504"/>
          </a:xfrm>
          <a:prstGeom prst="downArrow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4EF761-7A7D-9B86-EC2D-6E1A598683A1}"/>
              </a:ext>
            </a:extLst>
          </p:cNvPr>
          <p:cNvSpPr txBox="1"/>
          <p:nvPr/>
        </p:nvSpPr>
        <p:spPr>
          <a:xfrm>
            <a:off x="1111727" y="3437578"/>
            <a:ext cx="88032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수분 게이지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71081B-3023-6262-4402-849901BDC224}"/>
              </a:ext>
            </a:extLst>
          </p:cNvPr>
          <p:cNvSpPr txBox="1"/>
          <p:nvPr/>
        </p:nvSpPr>
        <p:spPr>
          <a:xfrm>
            <a:off x="3370435" y="3443100"/>
            <a:ext cx="88032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수압 게이지</a:t>
            </a:r>
          </a:p>
        </p:txBody>
      </p:sp>
      <p:pic>
        <p:nvPicPr>
          <p:cNvPr id="9" name="그림 8" descr="클립아트, 만화 영화, 그림, 일러스트레이션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FD2F5CA4-800A-D73F-16EB-5F823908B2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75629" y="1502258"/>
            <a:ext cx="1363870" cy="1655832"/>
          </a:xfrm>
          <a:prstGeom prst="rect">
            <a:avLst/>
          </a:prstGeom>
        </p:spPr>
      </p:pic>
      <p:pic>
        <p:nvPicPr>
          <p:cNvPr id="12" name="그림 11" descr="원, 다채로움, 패턴, 예술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48942DD0-A7A3-77A9-B464-AE53AD0F631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24660" y="765313"/>
            <a:ext cx="876852" cy="733288"/>
          </a:xfrm>
          <a:prstGeom prst="rect">
            <a:avLst/>
          </a:prstGeom>
        </p:spPr>
      </p:pic>
      <p:pic>
        <p:nvPicPr>
          <p:cNvPr id="14" name="그림 13" descr="예술, 상징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90A5E66B-A4A2-4EE6-D5D4-D7985B2BDA3D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13845" y="1381194"/>
            <a:ext cx="1162050" cy="1533525"/>
          </a:xfrm>
          <a:prstGeom prst="rect">
            <a:avLst/>
          </a:prstGeom>
        </p:spPr>
      </p:pic>
      <p:sp>
        <p:nvSpPr>
          <p:cNvPr id="15" name="같음 기호 14">
            <a:extLst>
              <a:ext uri="{FF2B5EF4-FFF2-40B4-BE49-F238E27FC236}">
                <a16:creationId xmlns:a16="http://schemas.microsoft.com/office/drawing/2014/main" id="{D2BAC827-331B-11AB-8E65-67BD31435DB0}"/>
              </a:ext>
            </a:extLst>
          </p:cNvPr>
          <p:cNvSpPr/>
          <p:nvPr/>
        </p:nvSpPr>
        <p:spPr>
          <a:xfrm>
            <a:off x="8688456" y="1832114"/>
            <a:ext cx="1104899" cy="584200"/>
          </a:xfrm>
          <a:prstGeom prst="mathEqual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16" name="그림 15" descr="상징, 그래픽, 폰트, 표지판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0B844FCE-1551-3403-A969-D896A0C9D91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0798" y="2575478"/>
            <a:ext cx="1614143" cy="165182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82895980-AD47-6915-24EB-6256DC8D6C06}"/>
              </a:ext>
            </a:extLst>
          </p:cNvPr>
          <p:cNvSpPr txBox="1"/>
          <p:nvPr/>
        </p:nvSpPr>
        <p:spPr>
          <a:xfrm>
            <a:off x="10051739" y="3426536"/>
            <a:ext cx="1101192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조작 불가 상태</a:t>
            </a:r>
          </a:p>
        </p:txBody>
      </p:sp>
      <p:pic>
        <p:nvPicPr>
          <p:cNvPr id="17" name="그림 16" descr="자동차 미러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C42594-F38B-3912-B082-E7F09157131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347792" y="2167834"/>
            <a:ext cx="1064592" cy="1086679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009C578-A279-5EA8-E584-B4458606A656}"/>
              </a:ext>
            </a:extLst>
          </p:cNvPr>
          <p:cNvSpPr txBox="1"/>
          <p:nvPr/>
        </p:nvSpPr>
        <p:spPr>
          <a:xfrm>
            <a:off x="6440521" y="3344069"/>
            <a:ext cx="8803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수분 회복 </a:t>
            </a:r>
            <a:r>
              <a:rPr lang="ko-KR" altLang="en-US" sz="1000" b="1" dirty="0">
                <a:ea typeface="+mn-lt"/>
                <a:cs typeface="+mn-lt"/>
              </a:rPr>
              <a:t>아이템</a:t>
            </a:r>
            <a:endParaRPr lang="ko-KR" altLang="en-US" sz="1000" b="1" dirty="0">
              <a:ea typeface="맑은 고딕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240B296-57C3-DC7B-DA8B-ED62B0B058C0}"/>
              </a:ext>
            </a:extLst>
          </p:cNvPr>
          <p:cNvSpPr txBox="1"/>
          <p:nvPr/>
        </p:nvSpPr>
        <p:spPr>
          <a:xfrm>
            <a:off x="5203651" y="3355113"/>
            <a:ext cx="88032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수압 증가 </a:t>
            </a:r>
            <a:r>
              <a:rPr lang="ko-KR" altLang="en-US" sz="1000" b="1" dirty="0">
                <a:ea typeface="+mn-lt"/>
                <a:cs typeface="+mn-lt"/>
              </a:rPr>
              <a:t>아이템</a:t>
            </a:r>
            <a:endParaRPr lang="ko-KR" altLang="en-US" sz="1000" b="1" dirty="0">
              <a:ea typeface="맑은 고딕"/>
            </a:endParaRPr>
          </a:p>
        </p:txBody>
      </p:sp>
      <p:pic>
        <p:nvPicPr>
          <p:cNvPr id="21" name="그림 20" descr="그림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58B3FD7-D71F-D3A4-F111-824CD669E419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10921" y="2167833"/>
            <a:ext cx="1064592" cy="1075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122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7AC78D-57CF-0CD2-E2C0-F9D8CCF90F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08407058-A680-52B7-7775-76FB42599D55}"/>
              </a:ext>
            </a:extLst>
          </p:cNvPr>
          <p:cNvSpPr/>
          <p:nvPr/>
        </p:nvSpPr>
        <p:spPr>
          <a:xfrm>
            <a:off x="231061" y="909755"/>
            <a:ext cx="11715830" cy="4021786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1463FE6-F488-5317-8D72-431279C999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063" y="5317903"/>
            <a:ext cx="11715714" cy="104057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ko-KR" altLang="en-US" sz="1200">
                <a:solidFill>
                  <a:srgbClr val="000000"/>
                </a:solidFill>
                <a:ea typeface="맑은 고딕"/>
                <a:cs typeface="Arial"/>
              </a:rPr>
              <a:t>플레이어는 시작 지점에서부터 각 스테이지 별로 지정된 도착 지점까지 도달해야 한다. 스테이지마다 각종 장애물과 적들이 배치되어 있어 플레이어를 방해한다.</a:t>
            </a:r>
          </a:p>
          <a:p>
            <a:r>
              <a:rPr lang="ko-KR" altLang="en-US" sz="1200">
                <a:solidFill>
                  <a:srgbClr val="000000"/>
                </a:solidFill>
                <a:ea typeface="맑은 고딕"/>
                <a:cs typeface="Arial"/>
              </a:rPr>
              <a:t>여러 종류의 스테이지(초원, 산, 황무지, 바위 지대 등)가 있으며 각 스테이지 마다 플레이어를 밀쳐내는 바람, 움직이는 함정 등의 요소가 있다.</a:t>
            </a:r>
          </a:p>
          <a:p>
            <a:r>
              <a:rPr lang="ko-KR" altLang="en-US" sz="1200" dirty="0">
                <a:ea typeface="맑은 고딕"/>
                <a:cs typeface="Arial"/>
              </a:rPr>
              <a:t>스테이지 클리어 시 목표지점까지 도달하는데 걸린 시간과 적에게 맞은 횟수 등을 집계하여 플레이어에게 랭크 형식으로 보여준다. 방해를 덜 받으면서 최대한 빠르게 목표지점에 도달하면 좋은 랭크를 받을 수 있다.</a:t>
            </a:r>
          </a:p>
          <a:p>
            <a:endParaRPr lang="ko-KR" altLang="en-US" sz="1200" dirty="0">
              <a:ea typeface="맑은 고딕"/>
              <a:cs typeface="Arial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DE9888CE-2AF7-E0A8-5075-2AD3C506C406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>
                <a:solidFill>
                  <a:schemeClr val="bg1"/>
                </a:solidFill>
                <a:ea typeface="맑은 고딕"/>
              </a:rPr>
              <a:t>3-3. 게임 특징: 스테이지</a:t>
            </a:r>
            <a:endParaRPr lang="ko-KR" b="1" i="1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DD62DE3-30FF-68A0-A45C-C7B0DC6C8C31}"/>
              </a:ext>
            </a:extLst>
          </p:cNvPr>
          <p:cNvSpPr txBox="1"/>
          <p:nvPr/>
        </p:nvSpPr>
        <p:spPr>
          <a:xfrm>
            <a:off x="1956869" y="4624754"/>
            <a:ext cx="179692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ea typeface="맑은 고딕"/>
              </a:rPr>
              <a:t>스테이지 예시(정령산 근처)</a:t>
            </a:r>
            <a:endParaRPr lang="ko-KR" altLang="en-US" sz="1000" b="1" dirty="0">
              <a:ea typeface="맑은 고딕"/>
            </a:endParaRPr>
          </a:p>
        </p:txBody>
      </p:sp>
      <p:pic>
        <p:nvPicPr>
          <p:cNvPr id="22" name="그림 21" descr="잔디, 식물, 야외, 나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5560CC-3504-C223-2436-0F49CB202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212" y="1099309"/>
            <a:ext cx="4509052" cy="3422513"/>
          </a:xfrm>
          <a:prstGeom prst="rect">
            <a:avLst/>
          </a:prstGeom>
        </p:spPr>
      </p:pic>
      <p:pic>
        <p:nvPicPr>
          <p:cNvPr id="23" name="그림 22" descr="잔디, 경치, 야외, 식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0EB4DE-323E-6287-577F-02125C2961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3758" y="1102070"/>
            <a:ext cx="4274243" cy="3413401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015F764-00F4-E6AC-DB4A-584B544EDB59}"/>
              </a:ext>
            </a:extLst>
          </p:cNvPr>
          <p:cNvSpPr txBox="1"/>
          <p:nvPr/>
        </p:nvSpPr>
        <p:spPr>
          <a:xfrm>
            <a:off x="6650347" y="4624754"/>
            <a:ext cx="1708581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ea typeface="맑은 고딕"/>
              </a:rPr>
              <a:t>스테이지 예시(바위 지대)</a:t>
            </a:r>
            <a:endParaRPr lang="ko-KR" altLang="en-US" sz="1000" b="1" dirty="0">
              <a:ea typeface="맑은 고딕"/>
            </a:endParaRPr>
          </a:p>
        </p:txBody>
      </p:sp>
      <p:pic>
        <p:nvPicPr>
          <p:cNvPr id="25" name="그림 24" descr="스크린샷, 만화 영화, 야외, 경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F7E9414-91C4-1F5C-8E01-F8392DB1D3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1260" y="1347304"/>
            <a:ext cx="1487483" cy="2915479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703D2050-5AB1-68BA-72E5-5895D7F7A5F8}"/>
              </a:ext>
            </a:extLst>
          </p:cNvPr>
          <p:cNvSpPr txBox="1"/>
          <p:nvPr/>
        </p:nvSpPr>
        <p:spPr>
          <a:xfrm>
            <a:off x="10051738" y="4381797"/>
            <a:ext cx="1465625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>
                <a:ea typeface="맑은 고딕"/>
              </a:rPr>
              <a:t>도착 지점</a:t>
            </a:r>
            <a:endParaRPr lang="ko-KR" altLang="en-US" sz="1000" b="1" dirty="0"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592551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5563CD-9726-A2F2-1572-8073B645A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사각형: 둥근 모서리 9">
            <a:extLst>
              <a:ext uri="{FF2B5EF4-FFF2-40B4-BE49-F238E27FC236}">
                <a16:creationId xmlns:a16="http://schemas.microsoft.com/office/drawing/2014/main" id="{7EBEF49D-A87E-4182-967B-F040AB4C120D}"/>
              </a:ext>
            </a:extLst>
          </p:cNvPr>
          <p:cNvSpPr/>
          <p:nvPr/>
        </p:nvSpPr>
        <p:spPr>
          <a:xfrm>
            <a:off x="226575" y="909755"/>
            <a:ext cx="6063466" cy="315004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2820EA3-C608-815A-3B52-76D26CBA00A7}"/>
              </a:ext>
            </a:extLst>
          </p:cNvPr>
          <p:cNvSpPr/>
          <p:nvPr/>
        </p:nvSpPr>
        <p:spPr>
          <a:xfrm>
            <a:off x="2698" y="-4979"/>
            <a:ext cx="12191970" cy="657936"/>
          </a:xfrm>
          <a:prstGeom prst="rect">
            <a:avLst/>
          </a:prstGeom>
          <a:solidFill>
            <a:schemeClr val="bg1">
              <a:lumMod val="5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b="1" i="1">
                <a:solidFill>
                  <a:schemeClr val="bg1"/>
                </a:solidFill>
                <a:ea typeface="맑은 고딕"/>
              </a:rPr>
              <a:t>3-4. 게임 특징: 방해하는 적들</a:t>
            </a:r>
            <a:endParaRPr lang="ko-KR" b="1" i="1" dirty="0">
              <a:solidFill>
                <a:schemeClr val="bg1"/>
              </a:solidFill>
              <a:latin typeface="Malgun Gothic"/>
              <a:ea typeface="Malgun Gothic"/>
            </a:endParaRPr>
          </a:p>
        </p:txBody>
      </p:sp>
      <p:pic>
        <p:nvPicPr>
          <p:cNvPr id="2" name="그림 1" descr="만화 영화, 아동 미술, 클립아트, 그림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F413B07-3CFD-595B-BD86-002320F0E3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9768" y="1714431"/>
            <a:ext cx="1325338" cy="1042987"/>
          </a:xfrm>
          <a:prstGeom prst="rect">
            <a:avLst/>
          </a:prstGeom>
        </p:spPr>
      </p:pic>
      <p:pic>
        <p:nvPicPr>
          <p:cNvPr id="4" name="그림 3" descr="만화 영화, 클립아트, 미소, 예술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FCEA262-5104-B159-F93D-C320B40C70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533" y="1703757"/>
            <a:ext cx="1035845" cy="1430452"/>
          </a:xfrm>
          <a:prstGeom prst="rect">
            <a:avLst/>
          </a:prstGeom>
        </p:spPr>
      </p:pic>
      <p:pic>
        <p:nvPicPr>
          <p:cNvPr id="6" name="그림 5" descr="만화 영화, 빛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3876262B-D49E-8302-8617-54F0AB8138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295" y="1587681"/>
            <a:ext cx="1033939" cy="1626915"/>
          </a:xfrm>
          <a:prstGeom prst="rect">
            <a:avLst/>
          </a:prstGeom>
        </p:spPr>
      </p:pic>
      <p:pic>
        <p:nvPicPr>
          <p:cNvPr id="7" name="그림 6" descr="스크린샷, 직사각형, 휴대 전화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8DFFFED5-CAD7-16BB-37FB-A6414C1032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541" y="1583531"/>
            <a:ext cx="1252878" cy="1621291"/>
          </a:xfrm>
          <a:prstGeom prst="rect">
            <a:avLst/>
          </a:prstGeom>
        </p:spPr>
      </p:pic>
      <p:pic>
        <p:nvPicPr>
          <p:cNvPr id="8" name="그림 7" descr="스크린샷, 직사각형, 휴대 전화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79A6011F-46FD-A38A-2403-E1E39E5D80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0372" y="1583531"/>
            <a:ext cx="1157629" cy="1620271"/>
          </a:xfrm>
          <a:prstGeom prst="rect">
            <a:avLst/>
          </a:prstGeom>
        </p:spPr>
      </p:pic>
      <p:pic>
        <p:nvPicPr>
          <p:cNvPr id="9" name="그림 8" descr="스크린샷, 직사각형, 휴대 전화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D97A9BF1-B079-ADB2-E5CD-CA5713EFE3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4598" y="1605302"/>
            <a:ext cx="1321595" cy="159747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0E7D368-881A-238D-4216-A4E5AAC162C9}"/>
              </a:ext>
            </a:extLst>
          </p:cNvPr>
          <p:cNvSpPr txBox="1"/>
          <p:nvPr/>
        </p:nvSpPr>
        <p:spPr>
          <a:xfrm>
            <a:off x="561451" y="2790314"/>
            <a:ext cx="103272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b="1">
                <a:ea typeface="맑은 고딕"/>
              </a:rPr>
              <a:t>땅 정령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D1CF16-BF95-C8C1-BB32-55CFA5E251C2}"/>
              </a:ext>
            </a:extLst>
          </p:cNvPr>
          <p:cNvSpPr txBox="1"/>
          <p:nvPr/>
        </p:nvSpPr>
        <p:spPr>
          <a:xfrm>
            <a:off x="1959879" y="2790314"/>
            <a:ext cx="103272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b="1" dirty="0">
                <a:ea typeface="맑은 고딕"/>
              </a:rPr>
              <a:t>불 정령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B8BCF-C163-71C2-B3ED-8E223E590F09}"/>
              </a:ext>
            </a:extLst>
          </p:cNvPr>
          <p:cNvSpPr txBox="1"/>
          <p:nvPr/>
        </p:nvSpPr>
        <p:spPr>
          <a:xfrm>
            <a:off x="4779755" y="2819206"/>
            <a:ext cx="113432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b="1" dirty="0" err="1">
                <a:ea typeface="맑은 고딕"/>
              </a:rPr>
              <a:t>누루링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538D6CE-3BA5-B3BF-7A4E-9A745AE198D0}"/>
              </a:ext>
            </a:extLst>
          </p:cNvPr>
          <p:cNvSpPr txBox="1"/>
          <p:nvPr/>
        </p:nvSpPr>
        <p:spPr>
          <a:xfrm>
            <a:off x="2664515" y="3490726"/>
            <a:ext cx="1079104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000" b="1" dirty="0">
                <a:ea typeface="맑은 고딕"/>
              </a:rPr>
              <a:t>방해하는 적들</a:t>
            </a:r>
          </a:p>
        </p:txBody>
      </p:sp>
      <p:pic>
        <p:nvPicPr>
          <p:cNvPr id="21" name="그림 20" descr="그림, 예술, 일러스트레이션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4AA080E-EF91-CBA3-193B-8489391B457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59943" y="1619249"/>
            <a:ext cx="971551" cy="1297783"/>
          </a:xfrm>
          <a:prstGeom prst="rect">
            <a:avLst/>
          </a:prstGeom>
        </p:spPr>
      </p:pic>
      <p:pic>
        <p:nvPicPr>
          <p:cNvPr id="15" name="그림 14" descr="스크린샷, 직사각형, 휴대 전화, 디자인이(가) 표시된 사진&#10;&#10;AI가 생성한 콘텐츠에는 오류가 있을 수 있습니다.">
            <a:extLst>
              <a:ext uri="{FF2B5EF4-FFF2-40B4-BE49-F238E27FC236}">
                <a16:creationId xmlns:a16="http://schemas.microsoft.com/office/drawing/2014/main" id="{20D5A0F3-1A50-000B-3FA9-F973E1147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059" y="1619250"/>
            <a:ext cx="1252877" cy="1584552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FA0F93D1-93E2-CFF4-B349-65FAADB64C4C}"/>
              </a:ext>
            </a:extLst>
          </p:cNvPr>
          <p:cNvSpPr txBox="1"/>
          <p:nvPr/>
        </p:nvSpPr>
        <p:spPr>
          <a:xfrm>
            <a:off x="3335607" y="2814126"/>
            <a:ext cx="1032722" cy="2616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ko-KR" altLang="en-US" sz="1100" b="1" dirty="0">
                <a:ea typeface="맑은 고딕"/>
              </a:rPr>
              <a:t>바람 정령</a:t>
            </a:r>
          </a:p>
        </p:txBody>
      </p:sp>
      <p:pic>
        <p:nvPicPr>
          <p:cNvPr id="5" name="그림 4" descr="만화 영화, 스크린샷, 식물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0C33C40-AA0F-D30E-1787-4BD391B7744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02224" y="3609837"/>
            <a:ext cx="1695450" cy="1654970"/>
          </a:xfrm>
          <a:prstGeom prst="rect">
            <a:avLst/>
          </a:prstGeom>
        </p:spPr>
      </p:pic>
      <p:pic>
        <p:nvPicPr>
          <p:cNvPr id="17" name="그림 16" descr="잔디, 만화 영화, 애니메이션, 포유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04B7E91-9C3A-4ED4-D295-D4B9EFF3624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30954" y="894866"/>
            <a:ext cx="2624139" cy="1364458"/>
          </a:xfrm>
          <a:prstGeom prst="rect">
            <a:avLst/>
          </a:prstGeom>
        </p:spPr>
      </p:pic>
      <p:pic>
        <p:nvPicPr>
          <p:cNvPr id="25" name="그림 24" descr="그림, 만화 영화, 클립아트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78725F-ED50-F7B9-1468-2D557CC18E2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34579" y="876748"/>
            <a:ext cx="981076" cy="1364457"/>
          </a:xfrm>
          <a:prstGeom prst="rect">
            <a:avLst/>
          </a:prstGeom>
        </p:spPr>
      </p:pic>
      <p:pic>
        <p:nvPicPr>
          <p:cNvPr id="26" name="그림 25" descr="잔디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CC4E5C-6AB3-E569-18C5-810E511969B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8048" y="2390913"/>
            <a:ext cx="1393031" cy="1069182"/>
          </a:xfrm>
          <a:prstGeom prst="rect">
            <a:avLst/>
          </a:prstGeom>
        </p:spPr>
      </p:pic>
      <p:pic>
        <p:nvPicPr>
          <p:cNvPr id="27" name="그림 26" descr="그림, 스케치, 만화 영화, 클립아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2F92CEF-C21C-C95C-DC62-0597C856B1E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61097" y="2388152"/>
            <a:ext cx="952500" cy="1066800"/>
          </a:xfrm>
          <a:prstGeom prst="rect">
            <a:avLst/>
          </a:prstGeom>
        </p:spPr>
      </p:pic>
      <p:pic>
        <p:nvPicPr>
          <p:cNvPr id="28" name="그림 27" descr="스크린샷, 예술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5750735-8273-D7EF-67AC-5AC0422114D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772947" y="2390567"/>
            <a:ext cx="888206" cy="1066800"/>
          </a:xfrm>
          <a:prstGeom prst="rect">
            <a:avLst/>
          </a:prstGeom>
        </p:spPr>
      </p:pic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F1D0ECB2-6018-7343-8414-88B3AD76192D}"/>
              </a:ext>
            </a:extLst>
          </p:cNvPr>
          <p:cNvSpPr txBox="1">
            <a:spLocks/>
          </p:cNvSpPr>
          <p:nvPr/>
        </p:nvSpPr>
        <p:spPr>
          <a:xfrm>
            <a:off x="230063" y="5401247"/>
            <a:ext cx="11715714" cy="13501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z="1200">
                <a:solidFill>
                  <a:srgbClr val="000000"/>
                </a:solidFill>
                <a:ea typeface="맑은 고딕"/>
                <a:cs typeface="Arial"/>
              </a:rPr>
              <a:t>스테이지에 여러 종류의 적들이 배치되어 있다. 적마다 행동 패턴이 다르며 적과 닿았을 경우 잠시 기절한 후 반대 방향으로 넉백이 된다.</a:t>
            </a:r>
            <a:endParaRPr lang="ko-KR" altLang="en-US" sz="1200" dirty="0">
              <a:solidFill>
                <a:srgbClr val="000000"/>
              </a:solidFill>
              <a:ea typeface="맑은 고딕"/>
              <a:cs typeface="Arial"/>
            </a:endParaRPr>
          </a:p>
          <a:p>
            <a:r>
              <a:rPr lang="ko-KR" altLang="en-US" sz="1200">
                <a:solidFill>
                  <a:srgbClr val="000000"/>
                </a:solidFill>
                <a:ea typeface="맑은 고딕"/>
                <a:cs typeface="Arial"/>
              </a:rPr>
              <a:t>누루링은 좌, 우로 느리게 이동만 하며 땅 정령은 일정 시간마다 돌덩이를 던지는데, 맞을 시 기절에 걸려 풀릴 때 까지 조작할 수 없다.</a:t>
            </a:r>
          </a:p>
          <a:p>
            <a:r>
              <a:rPr lang="ko-KR" altLang="en-US" sz="1200">
                <a:ea typeface="맑은 고딕"/>
                <a:cs typeface="Arial"/>
              </a:rPr>
              <a:t>불 정령은 화염탄을 빠르게 쏘아대며 맞을 시 기절하진 않지만, 수분 게이지를 약간 잃는다. </a:t>
            </a:r>
            <a:endParaRPr lang="ko-KR" altLang="en-US" sz="1200" dirty="0">
              <a:ea typeface="맑은 고딕"/>
              <a:cs typeface="Arial"/>
            </a:endParaRPr>
          </a:p>
          <a:p>
            <a:r>
              <a:rPr lang="ko-KR" altLang="en-US" sz="1200">
                <a:ea typeface="맑은 고딕"/>
                <a:cs typeface="Arial"/>
              </a:rPr>
              <a:t>바람 정령은 유일하게 날아다니며 4방향으로 돌풍을 날린다. 돌풍에 맞을 시 수압 게이지를 크게 떨어트려 속도를 늦춘다.</a:t>
            </a:r>
          </a:p>
        </p:txBody>
      </p:sp>
      <p:pic>
        <p:nvPicPr>
          <p:cNvPr id="32" name="그림 31">
            <a:extLst>
              <a:ext uri="{FF2B5EF4-FFF2-40B4-BE49-F238E27FC236}">
                <a16:creationId xmlns:a16="http://schemas.microsoft.com/office/drawing/2014/main" id="{DBE43D3A-243E-4CE6-30BF-1F579ECC3518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40295" y="3685540"/>
            <a:ext cx="351790" cy="1515110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DBDCC4FA-0AAC-FB8D-515B-CC00577BB52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856886" y="3671957"/>
            <a:ext cx="351790" cy="1515110"/>
          </a:xfrm>
          <a:prstGeom prst="rect">
            <a:avLst/>
          </a:prstGeom>
        </p:spPr>
      </p:pic>
      <p:sp>
        <p:nvSpPr>
          <p:cNvPr id="37" name="화살표: 아래쪽 36">
            <a:extLst>
              <a:ext uri="{FF2B5EF4-FFF2-40B4-BE49-F238E27FC236}">
                <a16:creationId xmlns:a16="http://schemas.microsoft.com/office/drawing/2014/main" id="{C36B60A9-3F92-399F-A8AE-36C6C78DCC36}"/>
              </a:ext>
            </a:extLst>
          </p:cNvPr>
          <p:cNvSpPr/>
          <p:nvPr/>
        </p:nvSpPr>
        <p:spPr>
          <a:xfrm rot="16200000">
            <a:off x="9620776" y="1203463"/>
            <a:ext cx="250342" cy="697222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8" name="화살표: 아래쪽 37">
            <a:extLst>
              <a:ext uri="{FF2B5EF4-FFF2-40B4-BE49-F238E27FC236}">
                <a16:creationId xmlns:a16="http://schemas.microsoft.com/office/drawing/2014/main" id="{5FEE5ACB-9918-4E2E-E93A-9D85367D9604}"/>
              </a:ext>
            </a:extLst>
          </p:cNvPr>
          <p:cNvSpPr/>
          <p:nvPr/>
        </p:nvSpPr>
        <p:spPr>
          <a:xfrm rot="16200000">
            <a:off x="8989745" y="2608401"/>
            <a:ext cx="250342" cy="697222"/>
          </a:xfrm>
          <a:prstGeom prst="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351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79BEFE73-4661-FE61-88E7-B5232ACE464C}"/>
              </a:ext>
            </a:extLst>
          </p:cNvPr>
          <p:cNvSpPr txBox="1">
            <a:spLocks/>
          </p:cNvSpPr>
          <p:nvPr/>
        </p:nvSpPr>
        <p:spPr>
          <a:xfrm>
            <a:off x="223216" y="243570"/>
            <a:ext cx="1262144" cy="341735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b="1" i="1" dirty="0">
                <a:ea typeface="맑은 고딕"/>
              </a:rPr>
              <a:t>참고자료</a:t>
            </a:r>
            <a:endParaRPr lang="ko-KR" altLang="en-US" sz="2000" b="1" i="1" dirty="0"/>
          </a:p>
        </p:txBody>
      </p:sp>
      <p:sp>
        <p:nvSpPr>
          <p:cNvPr id="11" name="부제목 2">
            <a:extLst>
              <a:ext uri="{FF2B5EF4-FFF2-40B4-BE49-F238E27FC236}">
                <a16:creationId xmlns:a16="http://schemas.microsoft.com/office/drawing/2014/main" id="{2C6D3875-FF20-FB63-461C-A48F81714FB1}"/>
              </a:ext>
            </a:extLst>
          </p:cNvPr>
          <p:cNvSpPr txBox="1">
            <a:spLocks/>
          </p:cNvSpPr>
          <p:nvPr/>
        </p:nvSpPr>
        <p:spPr>
          <a:xfrm>
            <a:off x="2146" y="5357923"/>
            <a:ext cx="5975425" cy="149745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ko-KR" altLang="en-US" sz="1200" b="1" dirty="0">
                <a:ea typeface="맑은 고딕"/>
              </a:rPr>
              <a:t>자료 및 통계 출처)</a:t>
            </a:r>
            <a:endParaRPr lang="ko-KR" sz="1200" b="1" dirty="0">
              <a:ea typeface="맑은 고딕" panose="020B0503020000020004" pitchFamily="34" charset="-127"/>
            </a:endParaRPr>
          </a:p>
          <a:p>
            <a:pPr marL="342900" indent="-342900" algn="l">
              <a:buAutoNum type="arabicPeriod"/>
            </a:pPr>
            <a:r>
              <a:rPr lang="en-US" sz="1000" b="1" dirty="0">
                <a:ea typeface="+mn-lt"/>
                <a:cs typeface="+mn-lt"/>
                <a:hlinkClick r:id="rId2"/>
              </a:rPr>
              <a:t>https://game.naver.com/lounge/Trickcal</a:t>
            </a:r>
            <a:endParaRPr lang="en-US" altLang="ko-KR" sz="1000" b="1" dirty="0">
              <a:ea typeface="+mn-lt"/>
              <a:cs typeface="+mn-lt"/>
            </a:endParaRPr>
          </a:p>
          <a:p>
            <a:pPr marL="342900" indent="-342900" algn="l">
              <a:buAutoNum type="arabicPeriod"/>
            </a:pPr>
            <a:r>
              <a:rPr lang="en-US" sz="1000" b="1" dirty="0">
                <a:ea typeface="+mn-lt"/>
                <a:cs typeface="+mn-lt"/>
              </a:rPr>
              <a:t>https://store.steampowered.com/app/240720/Getting_Over_It_with_Bennett_Foddy/</a:t>
            </a:r>
            <a:endParaRPr lang="en-US" sz="1000" b="1" dirty="0">
              <a:latin typeface="맑은 고딕"/>
              <a:ea typeface="맑은 고딕"/>
            </a:endParaRPr>
          </a:p>
          <a:p>
            <a:pPr marL="342900" indent="-342900" algn="l">
              <a:buAutoNum type="arabicPeriod"/>
            </a:pPr>
            <a:r>
              <a:rPr lang="en-US" altLang="ko-KR" sz="1000" b="1" err="1">
                <a:latin typeface="맑은 고딕"/>
                <a:ea typeface="맑은 고딕"/>
              </a:rPr>
              <a:t>개인</a:t>
            </a:r>
            <a:r>
              <a:rPr lang="en-US" altLang="ko-KR" sz="1000" b="1" dirty="0">
                <a:latin typeface="맑은 고딕"/>
                <a:ea typeface="맑은 고딕"/>
              </a:rPr>
              <a:t> </a:t>
            </a:r>
            <a:r>
              <a:rPr lang="en-US" altLang="ko-KR" sz="1000" b="1" err="1">
                <a:latin typeface="맑은 고딕"/>
                <a:ea typeface="맑은 고딕"/>
              </a:rPr>
              <a:t>제작</a:t>
            </a:r>
            <a:r>
              <a:rPr lang="en-US" altLang="ko-KR" sz="1000" b="1" dirty="0">
                <a:latin typeface="맑은 고딕"/>
                <a:ea typeface="맑은 고딕"/>
              </a:rPr>
              <a:t> </a:t>
            </a:r>
            <a:r>
              <a:rPr lang="en-US" altLang="ko-KR" sz="1000" b="1" err="1">
                <a:latin typeface="맑은 고딕"/>
                <a:ea typeface="맑은 고딕"/>
              </a:rPr>
              <a:t>리소스</a:t>
            </a:r>
            <a:endParaRPr lang="en-US" altLang="ko-KR" sz="1000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720899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401</Words>
  <Application>Microsoft Office PowerPoint</Application>
  <PresentationFormat>와이드스크린</PresentationFormat>
  <Paragraphs>119</Paragraphs>
  <Slides>10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1" baseType="lpstr">
      <vt:lpstr>Office 테마</vt:lpstr>
      <vt:lpstr>나이아, 가라! (Naia, Go!) 초기 기획서</vt:lpstr>
      <vt:lpstr>목차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/>
  <cp:lastModifiedBy>user</cp:lastModifiedBy>
  <cp:revision>7537</cp:revision>
  <dcterms:created xsi:type="dcterms:W3CDTF">2024-04-28T02:55:18Z</dcterms:created>
  <dcterms:modified xsi:type="dcterms:W3CDTF">2026-02-23T14:23:02Z</dcterms:modified>
</cp:coreProperties>
</file>